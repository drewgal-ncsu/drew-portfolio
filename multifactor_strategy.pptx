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77" r:id="rId3"/>
    <p:sldId id="258" r:id="rId4"/>
    <p:sldId id="259" r:id="rId5"/>
    <p:sldId id="260" r:id="rId6"/>
    <p:sldId id="274" r:id="rId7"/>
    <p:sldId id="262" r:id="rId8"/>
    <p:sldId id="263" r:id="rId9"/>
    <p:sldId id="264" r:id="rId10"/>
    <p:sldId id="279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176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321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3954780"/>
            <a:ext cx="256032" cy="822960"/>
          </a:xfrm>
          <a:prstGeom prst="rect">
            <a:avLst/>
          </a:prstGeom>
          <a:solidFill>
            <a:srgbClr val="1F3A6E">
              <a:alpha val="60000"/>
            </a:srgbClr>
          </a:solidFill>
          <a:ln w="12700">
            <a:solidFill>
              <a:srgbClr val="1F3A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31152" y="3497580"/>
            <a:ext cx="256032" cy="1280160"/>
          </a:xfrm>
          <a:prstGeom prst="rect">
            <a:avLst/>
          </a:prstGeom>
          <a:solidFill>
            <a:srgbClr val="1F3A6E">
              <a:alpha val="60000"/>
            </a:srgbClr>
          </a:solidFill>
          <a:ln w="12700">
            <a:solidFill>
              <a:srgbClr val="1F3A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78624" y="3863340"/>
            <a:ext cx="256032" cy="914400"/>
          </a:xfrm>
          <a:prstGeom prst="rect">
            <a:avLst/>
          </a:prstGeom>
          <a:solidFill>
            <a:srgbClr val="1F3A6E">
              <a:alpha val="60000"/>
            </a:srgbClr>
          </a:solidFill>
          <a:ln w="12700">
            <a:solidFill>
              <a:srgbClr val="1F3A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626096" y="3223260"/>
            <a:ext cx="256032" cy="1554480"/>
          </a:xfrm>
          <a:prstGeom prst="rect">
            <a:avLst/>
          </a:prstGeom>
          <a:solidFill>
            <a:srgbClr val="1F3A6E">
              <a:alpha val="60000"/>
            </a:srgbClr>
          </a:solidFill>
          <a:ln w="12700">
            <a:solidFill>
              <a:srgbClr val="1F3A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73568" y="3589020"/>
            <a:ext cx="256032" cy="1188720"/>
          </a:xfrm>
          <a:prstGeom prst="rect">
            <a:avLst/>
          </a:prstGeom>
          <a:solidFill>
            <a:srgbClr val="1F3A6E">
              <a:alpha val="60000"/>
            </a:srgbClr>
          </a:solidFill>
          <a:ln w="12700">
            <a:solidFill>
              <a:srgbClr val="1F3A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321040" y="2948940"/>
            <a:ext cx="256032" cy="1828800"/>
          </a:xfrm>
          <a:prstGeom prst="rect">
            <a:avLst/>
          </a:prstGeom>
          <a:solidFill>
            <a:srgbClr val="1F3A6E">
              <a:alpha val="60000"/>
            </a:srgbClr>
          </a:solidFill>
          <a:ln w="12700">
            <a:solidFill>
              <a:srgbClr val="1F3A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68512" y="3314700"/>
            <a:ext cx="256032" cy="1463040"/>
          </a:xfrm>
          <a:prstGeom prst="rect">
            <a:avLst/>
          </a:prstGeom>
          <a:solidFill>
            <a:srgbClr val="1F3A6E">
              <a:alpha val="60000"/>
            </a:srgbClr>
          </a:solidFill>
          <a:ln w="12700">
            <a:solidFill>
              <a:srgbClr val="1F3A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02920" y="1234440"/>
            <a:ext cx="329184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12344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INVESTING · SPRING 2026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169164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Factor Equity Strategy </a:t>
            </a:r>
          </a:p>
          <a:p>
            <a:pPr marL="0" indent="0">
              <a:buNone/>
            </a:pPr>
            <a:endParaRPr lang="en-US" sz="3800" b="1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3800" b="1" dirty="0">
                <a:solidFill>
                  <a:schemeClr val="accent5"/>
                </a:solidFill>
                <a:latin typeface="Calibri" pitchFamily="34" charset="0"/>
                <a:cs typeface="Calibri" pitchFamily="34" charset="-120"/>
              </a:rPr>
              <a:t>M</a:t>
            </a: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omentum  </a:t>
            </a:r>
            <a:r>
              <a:rPr lang="en-US" sz="3800" b="1" dirty="0">
                <a:solidFill>
                  <a:schemeClr val="accent5"/>
                </a:solidFill>
                <a:latin typeface="Calibri" pitchFamily="34" charset="0"/>
                <a:cs typeface="Calibri" pitchFamily="34" charset="-120"/>
              </a:rPr>
              <a:t>V</a:t>
            </a: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alue  </a:t>
            </a:r>
            <a:r>
              <a:rPr lang="en-US" sz="3800" b="1" dirty="0">
                <a:solidFill>
                  <a:schemeClr val="accent5"/>
                </a:solidFill>
                <a:latin typeface="Calibri" pitchFamily="34" charset="0"/>
                <a:cs typeface="Calibri" pitchFamily="34" charset="-120"/>
              </a:rPr>
              <a:t>P</a:t>
            </a: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rofitability  </a:t>
            </a:r>
            <a:r>
              <a:rPr lang="en-US" sz="3800" b="1" dirty="0">
                <a:solidFill>
                  <a:schemeClr val="accent5"/>
                </a:solidFill>
                <a:latin typeface="Calibri" pitchFamily="34" charset="0"/>
                <a:cs typeface="Calibri" pitchFamily="34" charset="-120"/>
              </a:rPr>
              <a:t>L</a:t>
            </a: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ow </a:t>
            </a:r>
            <a:r>
              <a:rPr lang="en-US" sz="3800" b="1" dirty="0">
                <a:solidFill>
                  <a:schemeClr val="accent5"/>
                </a:solidFill>
                <a:latin typeface="Calibri" pitchFamily="34" charset="0"/>
                <a:cs typeface="Calibri" pitchFamily="34" charset="-120"/>
              </a:rPr>
              <a:t>V</a:t>
            </a: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olatility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Drew Galvin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 Thesis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2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8595360" cy="64008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7772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that are simultaneously winning, cheap, profitable, and less volatile should outperform the market over time because they combine multiple persistent return drivers in one disciplined portfolio.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1627632" cy="1371600"/>
          </a:xfrm>
          <a:prstGeom prst="rect">
            <a:avLst/>
          </a:prstGeom>
          <a:solidFill>
            <a:srgbClr val="1F3A6E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1627632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66420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EA5E9"/>
                </a:solidFill>
              </a:rPr>
              <a:t>↑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" y="217627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74320" y="26334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ret_12_1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93392" y="1572768"/>
            <a:ext cx="1627632" cy="1371600"/>
          </a:xfrm>
          <a:prstGeom prst="rect">
            <a:avLst/>
          </a:prstGeom>
          <a:solidFill>
            <a:srgbClr val="1F3A6E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993392" y="1572768"/>
            <a:ext cx="1627632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93392" y="166420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EA5E9"/>
                </a:solidFill>
              </a:rPr>
              <a:t>↗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993392" y="217627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993392" y="26334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ret_6_1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12464" y="1572768"/>
            <a:ext cx="1627632" cy="1371600"/>
          </a:xfrm>
          <a:prstGeom prst="rect">
            <a:avLst/>
          </a:prstGeom>
          <a:solidFill>
            <a:srgbClr val="1F3A6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12464" y="1572768"/>
            <a:ext cx="162763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712464" y="166420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6"/>
                </a:solidFill>
              </a:rPr>
              <a:t>💲</a:t>
            </a:r>
          </a:p>
        </p:txBody>
      </p:sp>
      <p:sp>
        <p:nvSpPr>
          <p:cNvPr id="22" name="Text 20"/>
          <p:cNvSpPr/>
          <p:nvPr/>
        </p:nvSpPr>
        <p:spPr>
          <a:xfrm>
            <a:off x="3712464" y="217627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712464" y="26334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be_me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31536" y="1572768"/>
            <a:ext cx="1627632" cy="1371600"/>
          </a:xfrm>
          <a:prstGeom prst="rect">
            <a:avLst/>
          </a:prstGeom>
          <a:solidFill>
            <a:srgbClr val="1F3A6E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431536" y="1572768"/>
            <a:ext cx="162763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31536" y="166420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0B981"/>
                </a:solidFill>
              </a:rPr>
              <a:t>★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31536" y="217627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31536" y="26334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qmj_prof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50608" y="1572768"/>
            <a:ext cx="1627632" cy="1371600"/>
          </a:xfrm>
          <a:prstGeom prst="rect">
            <a:avLst/>
          </a:prstGeom>
          <a:solidFill>
            <a:srgbClr val="1F3A6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150608" y="1572768"/>
            <a:ext cx="162763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50608" y="1664208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</a:rPr>
              <a:t>⊗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50608" y="2176272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Volatility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150608" y="263347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rvol_21d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30723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FIVE?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74320" y="3401060"/>
            <a:ext cx="8595360" cy="144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</a:rPr>
              <a:t>Mid-Term Momentum (ret_12_1): </a:t>
            </a:r>
            <a:r>
              <a:rPr lang="en-US" sz="1100" dirty="0">
                <a:solidFill>
                  <a:srgbClr val="F0F4FF"/>
                </a:solidFill>
                <a:latin typeface="Calibri" pitchFamily="34" charset="0"/>
              </a:rPr>
              <a:t>if a stock has been on a roll for the past year, it tends to keep going — one of the most well-studied patterns in all of finance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</a:rPr>
              <a:t>Short-Term Momentum (ret_6_1):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</a:rPr>
              <a:t>same idea over a shorter 1–6 month window — picks up a slightly different signal, so using both gives us more edge than either alone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</a:rPr>
              <a:t>Value (be_me):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</a:rPr>
              <a:t>book-to-market ratio flags stocks the market has written off but whose fundamentals say otherwise — buying cheap has rewarded patient investors for decades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</a:rPr>
              <a:t>Profitability (qmj_prof):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</a:rPr>
              <a:t>a quality score that asks: is this company actually making good money? High scorers tend to keep outperforming even when other factors stumble</a:t>
            </a:r>
          </a:p>
          <a:p>
            <a:pPr marL="342900" indent="-342900">
              <a:spcAft>
                <a:spcPts val="0"/>
              </a:spcAft>
              <a:buSzPct val="100000"/>
              <a:buChar char="•"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</a:rPr>
              <a:t>Low Volatility (rvol_21d):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</a:rPr>
              <a:t>how much has this stock been bouncing around lately? We dial down exposure to the most erratic names — smoother ride, better risk-adjusted returns</a:t>
            </a:r>
          </a:p>
        </p:txBody>
      </p:sp>
    </p:spTree>
    <p:extLst>
      <p:ext uri="{BB962C8B-B14F-4D97-AF65-F5344CB8AC3E}">
        <p14:creationId xmlns:p14="http://schemas.microsoft.com/office/powerpoint/2010/main" val="3772224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Construction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3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51960" cy="10058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56692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77724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8503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Stock Pool</a:t>
            </a:r>
          </a:p>
        </p:txBody>
      </p:sp>
      <p:sp>
        <p:nvSpPr>
          <p:cNvPr id="9" name="Text 7"/>
          <p:cNvSpPr/>
          <p:nvPr/>
        </p:nvSpPr>
        <p:spPr>
          <a:xfrm>
            <a:off x="914400" y="112471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stocks above the bottom 20% of market cap, so we filter out the tiny, less liquid names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892808"/>
            <a:ext cx="4251960" cy="10058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892808"/>
            <a:ext cx="56692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892808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19659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22402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Percentile-rank each stock (0→1) on all 5 factors each month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008376"/>
            <a:ext cx="4251960" cy="10058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008376"/>
            <a:ext cx="56692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008376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30815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14400" y="335584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average of the 5 ranks, each variable has a weight of 20% — no optimization, no fitted weights which helps reduce overfitting risk.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777240"/>
            <a:ext cx="4251960" cy="10058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09160" y="777240"/>
            <a:ext cx="566928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09160" y="777240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49240" y="8503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349240" y="1124712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top 100 stocks by composite score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1892808"/>
            <a:ext cx="4251960" cy="10058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09160" y="1892808"/>
            <a:ext cx="566928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09160" y="1892808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349240" y="19659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349240" y="22402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 at 1% each — isolates pure factor signal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3008376"/>
            <a:ext cx="4251960" cy="10058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09160" y="3008376"/>
            <a:ext cx="566928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09160" y="3008376"/>
            <a:ext cx="566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49240" y="308152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349240" y="3355848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(Mar/Jun/Sep/Dec) with a 40-stock retention buffer to limit turnover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4187952"/>
            <a:ext cx="859536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" y="4187952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02336" y="4187952"/>
            <a:ext cx="8430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measured using information available at month-end, used to predict next month’s excess return; stocks missing any of the five signals are excluded; quarterly rebalancing and a retention buffer are used to reduce turnover. 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In-Sample Performance  ·  1970–2003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4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3200400" cy="33375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3200400" cy="347472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</a:rPr>
              <a:t>Metric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01368" y="7498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Strategy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7498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</a:rPr>
              <a:t>Market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1155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Return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1368" y="111556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9.71%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111556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682496"/>
            <a:ext cx="3200400" cy="566928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6824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Std. Dev.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01368" y="168249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15.31%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168249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16.63%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24942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01368" y="224942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224942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2816352"/>
            <a:ext cx="3200400" cy="566928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81635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Alpha (mo.)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801368" y="28163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−0.174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51760" y="281635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3832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Beta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801368" y="33832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51760" y="33832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713232"/>
            <a:ext cx="5440680" cy="3401568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256032" y="4187952"/>
            <a:ext cx="859536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56032" y="4187952"/>
            <a:ext cx="54864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384048" y="4187952"/>
            <a:ext cx="8430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earned +296 basis points of annualized excess return with LOWER volatility than the market.  $1 grew to $15.70 vs. the market's $5.75 — nearly 3×.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Test: Out-of-Sample  ·  2004–2022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5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3200400" cy="333756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56032" y="749808"/>
            <a:ext cx="3200400" cy="347472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7498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</a:rPr>
              <a:t>Metric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01368" y="74980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</a:rPr>
              <a:t>Strategy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7498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</a:rPr>
              <a:t>Market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11556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Annual Return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1368" y="111556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9.88%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111556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9.44%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682496"/>
            <a:ext cx="3200400" cy="566928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" y="168249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Std. Dev.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01368" y="168249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14.08%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1682496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16.05%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2249424"/>
            <a:ext cx="320040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24942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01368" y="224942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51760" y="2249424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" y="2816352"/>
            <a:ext cx="3200400" cy="566928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" y="281635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Alpha (mo.)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01368" y="281635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51760" y="281635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" y="338328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CAPM Beta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01368" y="338328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651760" y="33832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1100" dirty="0"/>
          </a:p>
        </p:txBody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713232"/>
            <a:ext cx="5440680" cy="340156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256032" y="4187952"/>
            <a:ext cx="8595360" cy="658368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7"/>
          <p:cNvSpPr/>
          <p:nvPr/>
        </p:nvSpPr>
        <p:spPr>
          <a:xfrm>
            <a:off x="256032" y="4187952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84048" y="4187952"/>
            <a:ext cx="8430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18 years of data the strategy had NEVER seen, the Sharpe ratio IMPROVED from 0.63 → 0.70.  Volatility fell. $1 → $4.93 vs. market's $4.31.  The bet held.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Factor Significance  ·  Fama-French 6-Factor Regression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6 / 10</a:t>
            </a:r>
            <a:endParaRPr lang="en-US" sz="900" dirty="0"/>
          </a:p>
        </p:txBody>
      </p:sp>
      <p:graphicFrame>
        <p:nvGraphicFramePr>
          <p:cNvPr id="10" name="Table 1"/>
          <p:cNvGraphicFramePr>
            <a:graphicFrameLocks noGrp="1"/>
          </p:cNvGraphicFramePr>
          <p:nvPr/>
        </p:nvGraphicFramePr>
        <p:xfrm>
          <a:off x="228600" y="698500"/>
          <a:ext cx="8686802" cy="238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2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22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2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22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228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228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Factor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Alpha</a:t>
                      </a:r>
                      <a:br>
                        <a:rPr lang="en-US" sz="920" b="1" dirty="0">
                          <a:solidFill>
                            <a:srgbClr val="FFFFFF"/>
                          </a:solidFill>
                        </a:rPr>
                      </a:b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(α)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Market β</a:t>
                      </a:r>
                      <a:br>
                        <a:rPr lang="en-US" sz="920" b="1" dirty="0">
                          <a:solidFill>
                            <a:srgbClr val="FFFFFF"/>
                          </a:solidFill>
                        </a:rPr>
                      </a:b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(MktRF)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Size β</a:t>
                      </a:r>
                      <a:br>
                        <a:rPr lang="en-US" sz="920" b="1" dirty="0">
                          <a:solidFill>
                            <a:srgbClr val="FFFFFF"/>
                          </a:solidFill>
                        </a:rPr>
                      </a:b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(SMB)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Value β</a:t>
                      </a:r>
                      <a:br>
                        <a:rPr lang="en-US" sz="920" b="1" dirty="0">
                          <a:solidFill>
                            <a:srgbClr val="FFFFFF"/>
                          </a:solidFill>
                        </a:rPr>
                      </a:b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(HML)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Profit. β</a:t>
                      </a:r>
                      <a:br>
                        <a:rPr lang="en-US" sz="920" b="1" dirty="0">
                          <a:solidFill>
                            <a:srgbClr val="FFFFFF"/>
                          </a:solidFill>
                        </a:rPr>
                      </a:b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(RMW)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Invest. β</a:t>
                      </a:r>
                      <a:br>
                        <a:rPr lang="en-US" sz="920" b="1" dirty="0">
                          <a:solidFill>
                            <a:srgbClr val="FFFFFF"/>
                          </a:solidFill>
                        </a:rPr>
                      </a:b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(CMA)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Momentum β</a:t>
                      </a:r>
                      <a:br>
                        <a:rPr lang="en-US" sz="920" b="1" dirty="0">
                          <a:solidFill>
                            <a:srgbClr val="FFFFFF"/>
                          </a:solidFill>
                        </a:rPr>
                      </a:br>
                      <a:r>
                        <a:rPr lang="en-US" sz="920" b="1" dirty="0">
                          <a:solidFill>
                            <a:srgbClr val="FFFFFF"/>
                          </a:solidFill>
                        </a:rPr>
                        <a:t>(UMD)</a:t>
                      </a:r>
                    </a:p>
                  </a:txBody>
                  <a:tcPr marL="63500" marR="63500" marT="25400" marB="25400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Coefficient</a:t>
                      </a:r>
                    </a:p>
                  </a:txBody>
                  <a:tcPr marL="63500" marR="63500" marT="25400" marB="2540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9E2020"/>
                          </a:solidFill>
                        </a:rPr>
                        <a:t>−0.069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1C3060"/>
                          </a:solidFill>
                        </a:rPr>
                        <a:t>0.930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1C3060"/>
                          </a:solidFill>
                        </a:rPr>
                        <a:t>0.009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1C3060"/>
                          </a:solidFill>
                        </a:rPr>
                        <a:t>0.109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1C3060"/>
                          </a:solidFill>
                        </a:rPr>
                        <a:t>0.145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1C3060"/>
                          </a:solidFill>
                        </a:rPr>
                        <a:t>0.022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1C3060"/>
                          </a:solidFill>
                        </a:rPr>
                        <a:t>0.278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t-stat</a:t>
                      </a:r>
                    </a:p>
                  </a:txBody>
                  <a:tcPr marL="63500" marR="63500" marT="25400" marB="2540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dirty="0">
                          <a:solidFill>
                            <a:srgbClr val="7A2020"/>
                          </a:solidFill>
                        </a:rPr>
                        <a:t>−0.79</a:t>
                      </a:r>
                    </a:p>
                  </a:txBody>
                  <a:tcPr marL="63500" marR="63500" marT="25400" marB="25400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dirty="0">
                          <a:solidFill>
                            <a:srgbClr val="1C3060"/>
                          </a:solidFill>
                        </a:rPr>
                        <a:t>42.69</a:t>
                      </a:r>
                    </a:p>
                  </a:txBody>
                  <a:tcPr marL="63500" marR="63500" marT="25400" marB="25400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dirty="0">
                          <a:solidFill>
                            <a:srgbClr val="1C3060"/>
                          </a:solidFill>
                        </a:rPr>
                        <a:t>0.22</a:t>
                      </a:r>
                    </a:p>
                  </a:txBody>
                  <a:tcPr marL="63500" marR="63500" marT="25400" marB="25400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dirty="0">
                          <a:solidFill>
                            <a:srgbClr val="1C3060"/>
                          </a:solidFill>
                        </a:rPr>
                        <a:t>2.92</a:t>
                      </a:r>
                    </a:p>
                  </a:txBody>
                  <a:tcPr marL="63500" marR="63500" marT="25400" marB="25400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dirty="0">
                          <a:solidFill>
                            <a:srgbClr val="1C3060"/>
                          </a:solidFill>
                        </a:rPr>
                        <a:t>2.96</a:t>
                      </a:r>
                    </a:p>
                  </a:txBody>
                  <a:tcPr marL="63500" marR="63500" marT="25400" marB="25400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dirty="0">
                          <a:solidFill>
                            <a:srgbClr val="1C3060"/>
                          </a:solidFill>
                        </a:rPr>
                        <a:t>0.37</a:t>
                      </a:r>
                    </a:p>
                  </a:txBody>
                  <a:tcPr marL="63500" marR="63500" marT="25400" marB="25400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950" dirty="0">
                          <a:solidFill>
                            <a:srgbClr val="1C3060"/>
                          </a:solidFill>
                        </a:rPr>
                        <a:t>12.50</a:t>
                      </a:r>
                    </a:p>
                  </a:txBody>
                  <a:tcPr marL="63500" marR="63500" marT="25400" marB="25400" anchor="ctr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Significant?</a:t>
                      </a:r>
                    </a:p>
                  </a:txBody>
                  <a:tcPr marL="63500" marR="63500" marT="25400" marB="2540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8E1A1A"/>
                          </a:solidFill>
                        </a:rPr>
                        <a:t>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1A6B1A"/>
                          </a:solidFill>
                        </a:rPr>
                        <a:t>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8E1A1A"/>
                          </a:solidFill>
                        </a:rPr>
                        <a:t>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1A6B1A"/>
                          </a:solidFill>
                        </a:rPr>
                        <a:t>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1A6B1A"/>
                          </a:solidFill>
                        </a:rPr>
                        <a:t>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8E1A1A"/>
                          </a:solidFill>
                        </a:rPr>
                        <a:t>❌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1A6B1A"/>
                          </a:solidFill>
                        </a:rPr>
                        <a:t>✅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Meaning?</a:t>
                      </a:r>
                    </a:p>
                  </a:txBody>
                  <a:tcPr marL="63500" marR="63500" marT="25400" marB="25400" anchor="ctr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0" dirty="0">
                          <a:solidFill>
                            <a:srgbClr val="6B7A9E"/>
                          </a:solidFill>
                        </a:rPr>
                        <a:t>–</a:t>
                      </a:r>
                    </a:p>
                  </a:txBody>
                  <a:tcPr marL="63500" marR="63500" marT="25400" marB="25400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0" i="1" dirty="0">
                          <a:solidFill>
                            <a:srgbClr val="1C3060"/>
                          </a:solidFill>
                        </a:rPr>
                        <a:t>Less risky than</a:t>
                      </a:r>
                      <a:br>
                        <a:rPr lang="en-US" sz="860" i="1" dirty="0">
                          <a:solidFill>
                            <a:srgbClr val="1C3060"/>
                          </a:solidFill>
                        </a:rPr>
                      </a:br>
                      <a:r>
                        <a:rPr lang="en-US" sz="860" i="1" dirty="0">
                          <a:solidFill>
                            <a:srgbClr val="1C3060"/>
                          </a:solidFill>
                        </a:rPr>
                        <a:t>market; highly</a:t>
                      </a:r>
                      <a:br>
                        <a:rPr lang="en-US" sz="860" i="1" dirty="0">
                          <a:solidFill>
                            <a:srgbClr val="1C3060"/>
                          </a:solidFill>
                        </a:rPr>
                      </a:br>
                      <a:r>
                        <a:rPr lang="en-US" sz="860" i="1" dirty="0">
                          <a:solidFill>
                            <a:srgbClr val="1C3060"/>
                          </a:solidFill>
                        </a:rPr>
                        <a:t>market-driven</a:t>
                      </a:r>
                    </a:p>
                  </a:txBody>
                  <a:tcPr marL="63500" marR="63500" marT="25400" marB="25400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0" dirty="0">
                          <a:solidFill>
                            <a:srgbClr val="6B7A9E"/>
                          </a:solidFill>
                        </a:rPr>
                        <a:t>–</a:t>
                      </a:r>
                    </a:p>
                  </a:txBody>
                  <a:tcPr marL="63500" marR="63500" marT="25400" marB="25400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0" i="1" dirty="0">
                          <a:solidFill>
                            <a:srgbClr val="1C3060"/>
                          </a:solidFill>
                        </a:rPr>
                        <a:t>Favor cheaper /</a:t>
                      </a:r>
                      <a:br>
                        <a:rPr lang="en-US" sz="860" i="1" dirty="0">
                          <a:solidFill>
                            <a:srgbClr val="1C3060"/>
                          </a:solidFill>
                        </a:rPr>
                      </a:br>
                      <a:r>
                        <a:rPr lang="en-US" sz="860" i="1" dirty="0">
                          <a:solidFill>
                            <a:srgbClr val="1C3060"/>
                          </a:solidFill>
                        </a:rPr>
                        <a:t>value stocks</a:t>
                      </a:r>
                    </a:p>
                  </a:txBody>
                  <a:tcPr marL="63500" marR="63500" marT="25400" marB="25400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0" i="1" dirty="0">
                          <a:solidFill>
                            <a:srgbClr val="1C3060"/>
                          </a:solidFill>
                        </a:rPr>
                        <a:t>Favor higher</a:t>
                      </a:r>
                      <a:br>
                        <a:rPr lang="en-US" sz="860" i="1" dirty="0">
                          <a:solidFill>
                            <a:srgbClr val="1C3060"/>
                          </a:solidFill>
                        </a:rPr>
                      </a:br>
                      <a:r>
                        <a:rPr lang="en-US" sz="860" i="1" dirty="0">
                          <a:solidFill>
                            <a:srgbClr val="1C3060"/>
                          </a:solidFill>
                        </a:rPr>
                        <a:t>profitability /</a:t>
                      </a:r>
                      <a:br>
                        <a:rPr lang="en-US" sz="860" i="1" dirty="0">
                          <a:solidFill>
                            <a:srgbClr val="1C3060"/>
                          </a:solidFill>
                        </a:rPr>
                      </a:br>
                      <a:r>
                        <a:rPr lang="en-US" sz="860" i="1" dirty="0">
                          <a:solidFill>
                            <a:srgbClr val="1C3060"/>
                          </a:solidFill>
                        </a:rPr>
                        <a:t>quality</a:t>
                      </a:r>
                    </a:p>
                  </a:txBody>
                  <a:tcPr marL="63500" marR="63500" marT="25400" marB="25400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0" dirty="0">
                          <a:solidFill>
                            <a:srgbClr val="6B7A9E"/>
                          </a:solidFill>
                        </a:rPr>
                        <a:t>–</a:t>
                      </a:r>
                    </a:p>
                  </a:txBody>
                  <a:tcPr marL="63500" marR="63500" marT="25400" marB="25400" anchor="ctr">
                    <a:solidFill>
                      <a:srgbClr val="F3F6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860" i="1" dirty="0">
                          <a:solidFill>
                            <a:srgbClr val="1C3060"/>
                          </a:solidFill>
                        </a:rPr>
                        <a:t>Favor recent</a:t>
                      </a:r>
                      <a:br>
                        <a:rPr lang="en-US" sz="860" i="1" dirty="0">
                          <a:solidFill>
                            <a:srgbClr val="1C3060"/>
                          </a:solidFill>
                        </a:rPr>
                      </a:br>
                      <a:r>
                        <a:rPr lang="en-US" sz="860" i="1" dirty="0">
                          <a:solidFill>
                            <a:srgbClr val="1C3060"/>
                          </a:solidFill>
                        </a:rPr>
                        <a:t>winners /</a:t>
                      </a:r>
                      <a:br>
                        <a:rPr lang="en-US" sz="860" i="1" dirty="0">
                          <a:solidFill>
                            <a:srgbClr val="1C3060"/>
                          </a:solidFill>
                        </a:rPr>
                      </a:br>
                      <a:r>
                        <a:rPr lang="en-US" sz="860" i="1" dirty="0">
                          <a:solidFill>
                            <a:srgbClr val="1C3060"/>
                          </a:solidFill>
                        </a:rPr>
                        <a:t>momentum</a:t>
                      </a:r>
                    </a:p>
                  </a:txBody>
                  <a:tcPr marL="63500" marR="63500" marT="25400" marB="25400" anchor="ctr">
                    <a:solidFill>
                      <a:srgbClr val="F3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Note"/>
          <p:cNvSpPr>
            <a:spLocks noGrp="1"/>
          </p:cNvSpPr>
          <p:nvPr/>
        </p:nvSpPr>
        <p:spPr>
          <a:xfrm>
            <a:off x="228600" y="3314700"/>
            <a:ext cx="8686800" cy="190500"/>
          </a:xfrm>
          <a:prstGeom prst="rect">
            <a:avLst/>
          </a:prstGeom>
          <a:solidFill>
            <a:srgbClr val="EBF0FA"/>
          </a:solidFill>
          <a:ln w="0">
            <a:noFill/>
          </a:ln>
        </p:spPr>
        <p:txBody>
          <a:bodyPr wrap="square" lIns="114300" tIns="25400" rIns="114300" bIns="25400" anchor="ctr"/>
          <a:lstStyle/>
          <a:p>
            <a:pPr algn="l">
              <a:buNone/>
            </a:pPr>
            <a:r>
              <a:rPr lang="en-US" sz="820" i="1" dirty="0">
                <a:solidFill>
                  <a:srgbClr val="3A4870"/>
                </a:solidFill>
              </a:rPr>
              <a:t>★  Significance based on p &lt; 0.05 using out-of-sample Fama-French 6-factor regression p-values.</a:t>
            </a:r>
          </a:p>
        </p:txBody>
      </p:sp>
      <p:sp>
        <p:nvSpPr>
          <p:cNvPr id="21" name="Takeaway"/>
          <p:cNvSpPr>
            <a:spLocks noGrp="1"/>
          </p:cNvSpPr>
          <p:nvPr/>
        </p:nvSpPr>
        <p:spPr>
          <a:xfrm>
            <a:off x="228600" y="3708400"/>
            <a:ext cx="8686800" cy="660400"/>
          </a:xfrm>
          <a:prstGeom prst="roundRect">
            <a:avLst>
              <a:gd name="adj" fmla="val 5000"/>
            </a:avLst>
          </a:prstGeom>
          <a:solidFill>
            <a:srgbClr val="E0E9F6"/>
          </a:solidFill>
          <a:ln w="28575">
            <a:solidFill>
              <a:srgbClr val="2F5496"/>
            </a:solidFill>
          </a:ln>
        </p:spPr>
        <p:txBody>
          <a:bodyPr wrap="square" lIns="228600" tIns="88900" rIns="228600" bIns="88900" anchor="ctr"/>
          <a:lstStyle/>
          <a:p>
            <a:pPr algn="l">
              <a:buNone/>
            </a:pPr>
            <a:r>
              <a:rPr lang="en-US" sz="1000" b="1" dirty="0">
                <a:solidFill>
                  <a:srgbClr val="1F3864"/>
                </a:solidFill>
              </a:rPr>
              <a:t>Key Takeaway:  </a:t>
            </a:r>
            <a:r>
              <a:rPr lang="en-US" sz="1000" dirty="0">
                <a:solidFill>
                  <a:srgbClr val="1F3864"/>
                </a:solidFill>
              </a:rPr>
              <a:t>Out-of-sample performance was not driven by significant alpha. It was primarily explained by significant exposure to Market, Value, Profitability, and Momentum factors.</a:t>
            </a:r>
          </a:p>
        </p:txBody>
      </p:sp>
    </p:spTree>
    <p:extLst>
      <p:ext uri="{BB962C8B-B14F-4D97-AF65-F5344CB8AC3E}">
        <p14:creationId xmlns:p14="http://schemas.microsoft.com/office/powerpoint/2010/main" val="4017963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Portfolio Returns  ·  1970–2022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 / 10</a:t>
            </a:r>
            <a:endParaRPr lang="en-US" sz="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749808"/>
            <a:ext cx="8631936" cy="37673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6032" y="4434840"/>
            <a:ext cx="8631936" cy="50292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56032" y="4434840"/>
            <a:ext cx="54864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84048" y="4434840"/>
            <a:ext cx="84673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years of annual performance. Blue = In-Sample · Teal = Out-of-Sample · Red line = Market.  In most years our bars sit above the red line — and in bad years we typically lose less.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Protection  ·  When Markets Crash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8 /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56032" y="7498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In-Sample (1970–2003)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24128"/>
            <a:ext cx="4251960" cy="2926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36008" y="7498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(2004–2022)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1024128"/>
            <a:ext cx="4251960" cy="29260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56032" y="4059936"/>
            <a:ext cx="8631936" cy="7772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56032" y="4059936"/>
            <a:ext cx="54864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84048" y="4059936"/>
            <a:ext cx="84673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area = market drawdown. Red line = strategy.  In 2008 the market fell over 50% — our strategy fell less and recovered faster.  The low-volatility factor doing its job in real crises.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 ·  What Worked and What Didn't in Future Data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9 / 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4160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6032" y="74980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 WORKED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" y="1143000"/>
            <a:ext cx="4160520" cy="7772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" y="1143000"/>
            <a:ext cx="54864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17957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stayed strong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UMD loading barely changed: 0.274 IS → 0.278 OOS. The signal was just as powerful on unseen data.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1993392"/>
            <a:ext cx="4160520" cy="7772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6032" y="1993392"/>
            <a:ext cx="54864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202996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got stronger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4048" y="2295144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RMW loading increased from 0.116 → 0.145. Quality companies kept delivering.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843784"/>
            <a:ext cx="4160520" cy="7772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6032" y="2843784"/>
            <a:ext cx="54864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4048" y="288036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volatility protected capital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4048" y="3145536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downside protection through 2008, COVID, and every correction in between.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56032" y="3694176"/>
            <a:ext cx="4160520" cy="7772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56032" y="3694176"/>
            <a:ext cx="54864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373075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improved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84048" y="3995928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 in-sample → 0.70 out-of-sample. Risk-adjusted efficiency actually got better.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27448" y="749808"/>
            <a:ext cx="4160520" cy="3291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27448" y="749808"/>
            <a:ext cx="4160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WHAT STRUGGLED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27448" y="1143000"/>
            <a:ext cx="4160520" cy="7772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727448" y="1143000"/>
            <a:ext cx="54864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55464" y="1179576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weakened significantly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55464" y="1444752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HML loading dropped from 0.230 → 0.109. The well-documented 'death of value' in the 2010s growth cycle.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27448" y="1993392"/>
            <a:ext cx="4160520" cy="7772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27448" y="1993392"/>
            <a:ext cx="54864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55464" y="2029968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return margin narrowed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55464" y="2295144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had +296 bps excess return. OOS had only +44 bps. The edge compressed substantially.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27448" y="2843784"/>
            <a:ext cx="4160520" cy="7772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727448" y="2843784"/>
            <a:ext cx="54864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55464" y="2880360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FF6 Alpha remains near zero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855464" y="3145536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 explained by factor exposure, not 'true' alpha. Expected for a factor-harvesting strategy.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27448" y="3694176"/>
            <a:ext cx="4160520" cy="77724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727448" y="3694176"/>
            <a:ext cx="54864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855464" y="3730752"/>
            <a:ext cx="3950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(CMA) signal faded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855464" y="3995928"/>
            <a:ext cx="3950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nearly vanished: 0.073 → 0.022. The conservative investment signal did not persist.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26280" y="749808"/>
            <a:ext cx="91440" cy="420624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447"/>
          </a:solidFill>
          <a:ln w="12700">
            <a:solidFill>
              <a:srgbClr val="162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1965960" cy="1188720"/>
          </a:xfrm>
          <a:prstGeom prst="rect">
            <a:avLst/>
          </a:prstGeom>
          <a:solidFill>
            <a:srgbClr val="1F3A6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216152"/>
            <a:ext cx="19659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796796"/>
            <a:ext cx="1965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Sharpe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(vs. 0.63 IS)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143000"/>
            <a:ext cx="1965960" cy="1188720"/>
          </a:xfrm>
          <a:prstGeom prst="rect">
            <a:avLst/>
          </a:prstGeom>
          <a:solidFill>
            <a:srgbClr val="1F3A6E"/>
          </a:solidFill>
          <a:ln w="12700">
            <a:solidFill>
              <a:srgbClr val="0EA5E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216152"/>
            <a:ext cx="19659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796796"/>
            <a:ext cx="1965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Annual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1143000"/>
            <a:ext cx="1965960" cy="1188720"/>
          </a:xfrm>
          <a:prstGeom prst="rect">
            <a:avLst/>
          </a:prstGeom>
          <a:solidFill>
            <a:srgbClr val="1F3A6E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17720" y="1216152"/>
            <a:ext cx="19659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14.08%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17720" y="1796796"/>
            <a:ext cx="1965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OOS Volatility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(mkt: 16.05%)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1143000"/>
            <a:ext cx="1965960" cy="1188720"/>
          </a:xfrm>
          <a:prstGeom prst="rect">
            <a:avLst/>
          </a:prstGeom>
          <a:solidFill>
            <a:srgbClr val="1F3A6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66560" y="1216152"/>
            <a:ext cx="196596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$77.49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1796796"/>
            <a:ext cx="196596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53yr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Wealth if $1 was invested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38400"/>
            <a:ext cx="310896" cy="402336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438400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" y="246380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 was validated — a simple, non-optimized 5-factor composite beat the market on 18 years of unseen data.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2870200"/>
            <a:ext cx="310896" cy="402336"/>
          </a:xfrm>
          <a:prstGeom prst="rect">
            <a:avLst/>
          </a:prstGeom>
          <a:solidFill>
            <a:srgbClr val="0EA5E9">
              <a:alpha val="8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870200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289560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performance improved out-of-sample. Sharpe 0.63 → 0.70. This is the opposite of what you'd expect from overfitting.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0040" y="3302000"/>
            <a:ext cx="310896" cy="402336"/>
          </a:xfrm>
          <a:prstGeom prst="rect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0040" y="3302000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⊙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332740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strategy is investable — no leverage, no shorting, quarterly rebalancing, liquid large/mid-cap universe.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0040" y="3733800"/>
            <a:ext cx="310896" cy="402336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0040" y="3733800"/>
            <a:ext cx="310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13232" y="375920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limitations: value exposure weakened, excess returns narrowed. This is a factor-harvesting strategy, not an alpha machine.</a:t>
            </a:r>
            <a:endParaRPr lang="en-US" sz="1150" dirty="0"/>
          </a:p>
        </p:txBody>
      </p:sp>
      <p:sp>
        <p:nvSpPr>
          <p:cNvPr id="33" name="Shape New1"/>
          <p:cNvSpPr>
            <a:spLocks noGrp="1"/>
          </p:cNvSpPr>
          <p:nvPr/>
        </p:nvSpPr>
        <p:spPr>
          <a:xfrm>
            <a:off x="317500" y="4165600"/>
            <a:ext cx="304800" cy="40640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n-US" sz="1100" dirty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34" name="Text NewIcon"/>
          <p:cNvSpPr>
            <a:spLocks noGrp="1"/>
          </p:cNvSpPr>
          <p:nvPr/>
        </p:nvSpPr>
        <p:spPr>
          <a:xfrm>
            <a:off x="317500" y="4165600"/>
            <a:ext cx="304800" cy="406400"/>
          </a:xfrm>
          <a:prstGeom prst="rect">
            <a:avLst/>
          </a:prstGeom>
          <a:noFill/>
        </p:spPr>
        <p:txBody>
          <a:bodyPr anchor="ctr"/>
          <a:lstStyle/>
          <a:p>
            <a:pPr algn="ctr">
              <a:buNone/>
            </a:pPr>
            <a:r>
              <a:rPr lang="en-US" sz="1100" dirty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35" name="Text NewBullet"/>
          <p:cNvSpPr>
            <a:spLocks noGrp="1"/>
          </p:cNvSpPr>
          <p:nvPr/>
        </p:nvSpPr>
        <p:spPr>
          <a:xfrm>
            <a:off x="711200" y="4191000"/>
            <a:ext cx="8133400" cy="406400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</a:rPr>
              <a:t>Next time: tilt harder toward momentum &amp; quality (value faded over time), switch to monthly rebalancing to better capture short-term momentum decay, and model transaction costs to keep turnover realistic.</a:t>
            </a:r>
          </a:p>
        </p:txBody>
      </p:sp>
      <p:sp>
        <p:nvSpPr>
          <p:cNvPr id="29" name="Shape 27"/>
          <p:cNvSpPr/>
          <p:nvPr/>
        </p:nvSpPr>
        <p:spPr>
          <a:xfrm>
            <a:off x="320040" y="4699000"/>
            <a:ext cx="8503920" cy="355600"/>
          </a:xfrm>
          <a:prstGeom prst="rect">
            <a:avLst/>
          </a:prstGeom>
          <a:solidFill>
            <a:srgbClr val="1F3A6E"/>
          </a:solidFill>
          <a:ln w="1270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20040" y="4699000"/>
            <a:ext cx="54864" cy="355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48056" y="4699000"/>
            <a:ext cx="8339328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five independent, academically-grounded factor signals into a simple rules-based portfolio, we built a strategy that delivered higher returns with lower risk — and that result held on data the model had never seen.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</a:rPr>
              <a:t>10 / 10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61103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7D1E114-14EF-9843-B655-31E16C1C69AC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051b0d4f-38f6-4166-9ecc-2f5f35b799e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1397</TotalTime>
  <Words>1228</Words>
  <Application>Microsoft Macintosh PowerPoint</Application>
  <PresentationFormat>On-screen Show (16:9)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Rules-Based Multifactor Equity Strategy</dc:title>
  <dc:subject>PptxGenJS Presentation</dc:subject>
  <dc:creator>Drew Galvin</dc:creator>
  <cp:lastModifiedBy>Drew Wesley Galvin</cp:lastModifiedBy>
  <cp:revision>7</cp:revision>
  <dcterms:created xsi:type="dcterms:W3CDTF">2026-04-15T16:33:01Z</dcterms:created>
  <dcterms:modified xsi:type="dcterms:W3CDTF">2026-04-16T16:01:53Z</dcterms:modified>
</cp:coreProperties>
</file>